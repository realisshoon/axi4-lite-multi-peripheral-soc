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8" r:id="rId23"/>
    <p:sldId id="277" r:id="rId24"/>
  </p:sldIdLst>
  <p:sldSz cx="9144000" cy="5143500" type="screen16x9"/>
  <p:notesSz cx="6858000" cy="9144000"/>
  <p:embeddedFontLst>
    <p:embeddedFont>
      <p:font typeface="Malgun Gothic" panose="020B0503020000020004" pitchFamily="34" charset="-127"/>
      <p:regular r:id="rId26"/>
      <p:bold r:id="rId27"/>
    </p:embeddedFont>
    <p:embeddedFont>
      <p:font typeface="IBM Plex Sans KR" panose="020B0604020202020204" charset="-127"/>
      <p:regular r:id="rId28"/>
      <p:bold r:id="rId29"/>
    </p:embeddedFont>
    <p:embeddedFont>
      <p:font typeface="Noto Sans KR" panose="020B0200000000000000" pitchFamily="34" charset="-128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23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F604C12-F708-43BD-8611-FBB7BC8371F0}">
  <a:tblStyle styleId="{BF604C12-F708-43BD-8611-FBB7BC8371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78" y="114"/>
      </p:cViewPr>
      <p:guideLst>
        <p:guide pos="23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05d0c44f1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05d0c44f1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fb6f3fff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fb6f3fff5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fb6f3fff5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fb6f3fff5_0_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f2ad64cc16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f2ad64cc16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ec51babc5d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ec51babc5d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f2ad64cc16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f2ad64cc16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fb6f3fff5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fb6f3fff5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2ad64cc16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2ad64cc16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fb6f3fff5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fb6f3fff5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2ad64cc16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2ad64cc16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fb6f3fff5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fb6f3fff5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efb6f3fff5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efb6f3fff5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c51babc5d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ec51babc5d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efb6f3fff5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efb6f3fff5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e2729e7a9a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e2729e7a9a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2ad64cc1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2ad64cc16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efb6f3fff5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efb6f3fff5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fb6f3fff5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fb6f3fff5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efb6f3fff5_0_1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efb6f3fff5_0_1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29f88e273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29f88e273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e29f88e273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e29f88e273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13771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e1c4dd0384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e1c4dd0384_0_1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Noto Sans KR"/>
              <a:buNone/>
              <a:defRPr sz="5200"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 sz="2800"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KR"/>
              <a:buNone/>
              <a:defRPr sz="1800" b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16" name="Google Shape;16;p3"/>
          <p:cNvCxnSpPr/>
          <p:nvPr/>
        </p:nvCxnSpPr>
        <p:spPr>
          <a:xfrm>
            <a:off x="-18975" y="582550"/>
            <a:ext cx="2287500" cy="0"/>
          </a:xfrm>
          <a:prstGeom prst="straightConnector1">
            <a:avLst/>
          </a:prstGeom>
          <a:noFill/>
          <a:ln w="38100" cap="flat" cmpd="sng">
            <a:solidFill>
              <a:srgbClr val="BACCC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헤더 1">
  <p:cSld name="SECTION_HEADER_1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KR"/>
              <a:buNone/>
              <a:defRPr sz="1800" b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20" name="Google Shape;20;p4"/>
          <p:cNvCxnSpPr/>
          <p:nvPr/>
        </p:nvCxnSpPr>
        <p:spPr>
          <a:xfrm>
            <a:off x="-18975" y="582550"/>
            <a:ext cx="2287500" cy="0"/>
          </a:xfrm>
          <a:prstGeom prst="straightConnector1">
            <a:avLst/>
          </a:prstGeom>
          <a:noFill/>
          <a:ln w="38100" cap="flat" cmpd="sng">
            <a:solidFill>
              <a:srgbClr val="A4C2F4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헤더 1 2">
  <p:cSld name="SECTION_HEADER_1_2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KR"/>
              <a:buNone/>
              <a:defRPr sz="1800" b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24" name="Google Shape;24;p5"/>
          <p:cNvCxnSpPr/>
          <p:nvPr/>
        </p:nvCxnSpPr>
        <p:spPr>
          <a:xfrm>
            <a:off x="-18975" y="582550"/>
            <a:ext cx="2287500" cy="0"/>
          </a:xfrm>
          <a:prstGeom prst="straightConnector1">
            <a:avLst/>
          </a:prstGeom>
          <a:noFill/>
          <a:ln w="38100" cap="flat" cmpd="sng">
            <a:solidFill>
              <a:srgbClr val="FFE599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헤더 1 1">
  <p:cSld name="SECTION_HEADER_1_1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KR"/>
              <a:buNone/>
              <a:defRPr sz="1800" b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28" name="Google Shape;28;p6"/>
          <p:cNvCxnSpPr/>
          <p:nvPr/>
        </p:nvCxnSpPr>
        <p:spPr>
          <a:xfrm>
            <a:off x="-18975" y="582550"/>
            <a:ext cx="2287500" cy="0"/>
          </a:xfrm>
          <a:prstGeom prst="straightConnector1">
            <a:avLst/>
          </a:prstGeom>
          <a:noFill/>
          <a:ln w="38100" cap="flat" cmpd="sng">
            <a:solidFill>
              <a:srgbClr val="B4A7D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섹션 헤더 1 1 1">
  <p:cSld name="SECTION_HEADER_1_1_1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Noto Sans KR"/>
              <a:buNone/>
              <a:defRPr sz="1800" b="1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  <p:cxnSp>
        <p:nvCxnSpPr>
          <p:cNvPr id="32" name="Google Shape;32;p7"/>
          <p:cNvCxnSpPr/>
          <p:nvPr/>
        </p:nvCxnSpPr>
        <p:spPr>
          <a:xfrm>
            <a:off x="-18975" y="582550"/>
            <a:ext cx="2287500" cy="0"/>
          </a:xfrm>
          <a:prstGeom prst="straightConnector1">
            <a:avLst/>
          </a:prstGeom>
          <a:noFill/>
          <a:ln w="3810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Noto Sans KR"/>
              <a:buChar char="●"/>
              <a:defRPr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  <a:defRPr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  <a:defRPr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  <a:defRPr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  <a:defRPr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  <a:defRPr>
                <a:latin typeface="Noto Sans KR"/>
                <a:ea typeface="Noto Sans KR"/>
                <a:cs typeface="Noto Sans KR"/>
                <a:sym typeface="Noto Sans KR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  <a:defRPr>
                <a:latin typeface="Noto Sans KR"/>
                <a:ea typeface="Noto Sans KR"/>
                <a:cs typeface="Noto Sans KR"/>
                <a:sym typeface="Noto Sans KR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  <a:defRPr>
                <a:latin typeface="Noto Sans KR"/>
                <a:ea typeface="Noto Sans KR"/>
                <a:cs typeface="Noto Sans KR"/>
                <a:sym typeface="Noto Sans KR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  <a:defRPr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  <a:defRPr sz="1400"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○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■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○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■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○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■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  <a:defRPr sz="1400"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○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■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○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■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○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■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Font typeface="Noto Sans KR"/>
              <a:buNone/>
              <a:defRPr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Noto Sans KR"/>
              <a:buNone/>
              <a:defRPr sz="2400"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Noto Sans KR"/>
              <a:buNone/>
              <a:defRPr sz="2400">
                <a:latin typeface="Noto Sans KR"/>
                <a:ea typeface="Noto Sans KR"/>
                <a:cs typeface="Noto Sans KR"/>
                <a:sym typeface="Noto Sans K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Noto Sans KR"/>
              <a:buNone/>
              <a:defRPr sz="2400">
                <a:latin typeface="Noto Sans KR"/>
                <a:ea typeface="Noto Sans KR"/>
                <a:cs typeface="Noto Sans KR"/>
                <a:sym typeface="Noto Sans K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Noto Sans KR"/>
              <a:buNone/>
              <a:defRPr sz="2400">
                <a:latin typeface="Noto Sans KR"/>
                <a:ea typeface="Noto Sans KR"/>
                <a:cs typeface="Noto Sans KR"/>
                <a:sym typeface="Noto Sans K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Noto Sans KR"/>
              <a:buNone/>
              <a:defRPr sz="2400">
                <a:latin typeface="Noto Sans KR"/>
                <a:ea typeface="Noto Sans KR"/>
                <a:cs typeface="Noto Sans KR"/>
                <a:sym typeface="Noto Sans K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Noto Sans KR"/>
              <a:buNone/>
              <a:defRPr sz="2400">
                <a:latin typeface="Noto Sans KR"/>
                <a:ea typeface="Noto Sans KR"/>
                <a:cs typeface="Noto Sans KR"/>
                <a:sym typeface="Noto Sans K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Noto Sans KR"/>
              <a:buNone/>
              <a:defRPr sz="2400">
                <a:latin typeface="Noto Sans KR"/>
                <a:ea typeface="Noto Sans KR"/>
                <a:cs typeface="Noto Sans KR"/>
                <a:sym typeface="Noto Sans K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Noto Sans KR"/>
              <a:buNone/>
              <a:defRPr sz="2400">
                <a:latin typeface="Noto Sans KR"/>
                <a:ea typeface="Noto Sans KR"/>
                <a:cs typeface="Noto Sans KR"/>
                <a:sym typeface="Noto Sans K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Noto Sans KR"/>
              <a:buNone/>
              <a:defRPr sz="2400"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○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■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○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■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●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○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Noto Sans KR"/>
              <a:buChar char="■"/>
              <a:defRPr sz="1200"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Font typeface="Noto Sans KR"/>
              <a:buNone/>
              <a:defRPr sz="4800">
                <a:latin typeface="Noto Sans KR"/>
                <a:ea typeface="Noto Sans KR"/>
                <a:cs typeface="Noto Sans KR"/>
                <a:sym typeface="Noto Sans K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Font typeface="Noto Sans KR"/>
              <a:buNone/>
              <a:defRPr sz="4200"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Noto Sans KR"/>
              <a:buNone/>
              <a:defRPr sz="2100">
                <a:latin typeface="Noto Sans KR"/>
                <a:ea typeface="Noto Sans KR"/>
                <a:cs typeface="Noto Sans KR"/>
                <a:sym typeface="Noto Sans K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Noto Sans KR"/>
              <a:buChar char="●"/>
              <a:defRPr>
                <a:latin typeface="Noto Sans KR"/>
                <a:ea typeface="Noto Sans KR"/>
                <a:cs typeface="Noto Sans KR"/>
                <a:sym typeface="Noto Sans KR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  <a:defRPr>
                <a:latin typeface="Noto Sans KR"/>
                <a:ea typeface="Noto Sans KR"/>
                <a:cs typeface="Noto Sans KR"/>
                <a:sym typeface="Noto Sans KR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  <a:defRPr>
                <a:latin typeface="Noto Sans KR"/>
                <a:ea typeface="Noto Sans KR"/>
                <a:cs typeface="Noto Sans KR"/>
                <a:sym typeface="Noto Sans KR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  <a:defRPr>
                <a:latin typeface="Noto Sans KR"/>
                <a:ea typeface="Noto Sans KR"/>
                <a:cs typeface="Noto Sans KR"/>
                <a:sym typeface="Noto Sans KR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  <a:defRPr>
                <a:latin typeface="Noto Sans KR"/>
                <a:ea typeface="Noto Sans KR"/>
                <a:cs typeface="Noto Sans KR"/>
                <a:sym typeface="Noto Sans KR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  <a:defRPr>
                <a:latin typeface="Noto Sans KR"/>
                <a:ea typeface="Noto Sans KR"/>
                <a:cs typeface="Noto Sans KR"/>
                <a:sym typeface="Noto Sans KR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●"/>
              <a:defRPr>
                <a:latin typeface="Noto Sans KR"/>
                <a:ea typeface="Noto Sans KR"/>
                <a:cs typeface="Noto Sans KR"/>
                <a:sym typeface="Noto Sans KR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○"/>
              <a:defRPr>
                <a:latin typeface="Noto Sans KR"/>
                <a:ea typeface="Noto Sans KR"/>
                <a:cs typeface="Noto Sans KR"/>
                <a:sym typeface="Noto Sans KR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Font typeface="Noto Sans KR"/>
              <a:buChar char="■"/>
              <a:defRPr>
                <a:latin typeface="Noto Sans KR"/>
                <a:ea typeface="Noto Sans KR"/>
                <a:cs typeface="Noto Sans KR"/>
                <a:sym typeface="Noto Sans KR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17.png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18.png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ctrTitle"/>
          </p:nvPr>
        </p:nvSpPr>
        <p:spPr>
          <a:xfrm>
            <a:off x="454175" y="1522450"/>
            <a:ext cx="8620500" cy="12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800" b="1"/>
              <a:t>AXI4-Lite</a:t>
            </a:r>
            <a:endParaRPr sz="4800" b="1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4800" b="1"/>
              <a:t>Multi-Peripheral SoC</a:t>
            </a:r>
            <a:endParaRPr sz="4800" b="1"/>
          </a:p>
        </p:txBody>
      </p:sp>
      <p:sp>
        <p:nvSpPr>
          <p:cNvPr id="72" name="Google Shape;72;p17"/>
          <p:cNvSpPr txBox="1"/>
          <p:nvPr/>
        </p:nvSpPr>
        <p:spPr>
          <a:xfrm>
            <a:off x="7232350" y="4387750"/>
            <a:ext cx="1762500" cy="5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한승훈</a:t>
            </a:r>
            <a:endParaRPr sz="18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2026.06.29</a:t>
            </a:r>
            <a:endParaRPr sz="1800">
              <a:solidFill>
                <a:schemeClr val="dk2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73" name="Google Shape;73;p17"/>
          <p:cNvGrpSpPr/>
          <p:nvPr/>
        </p:nvGrpSpPr>
        <p:grpSpPr>
          <a:xfrm>
            <a:off x="2691975" y="3337416"/>
            <a:ext cx="4144900" cy="87609"/>
            <a:chOff x="2678900" y="2644791"/>
            <a:chExt cx="4144900" cy="87609"/>
          </a:xfrm>
        </p:grpSpPr>
        <p:sp>
          <p:nvSpPr>
            <p:cNvPr id="74" name="Google Shape;74;p17"/>
            <p:cNvSpPr/>
            <p:nvPr/>
          </p:nvSpPr>
          <p:spPr>
            <a:xfrm>
              <a:off x="2678900" y="2644800"/>
              <a:ext cx="1529400" cy="87600"/>
            </a:xfrm>
            <a:prstGeom prst="rect">
              <a:avLst/>
            </a:prstGeom>
            <a:solidFill>
              <a:srgbClr val="BACCC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17"/>
            <p:cNvSpPr/>
            <p:nvPr/>
          </p:nvSpPr>
          <p:spPr>
            <a:xfrm>
              <a:off x="4208325" y="2644800"/>
              <a:ext cx="1196100" cy="87600"/>
            </a:xfrm>
            <a:prstGeom prst="rect">
              <a:avLst/>
            </a:prstGeom>
            <a:solidFill>
              <a:srgbClr val="C9DA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7"/>
            <p:cNvSpPr/>
            <p:nvPr/>
          </p:nvSpPr>
          <p:spPr>
            <a:xfrm>
              <a:off x="5404500" y="2644791"/>
              <a:ext cx="1419300" cy="87600"/>
            </a:xfrm>
            <a:prstGeom prst="rect">
              <a:avLst/>
            </a:prstGeom>
            <a:solidFill>
              <a:srgbClr val="D9D2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subTitle" idx="4294967295"/>
          </p:nvPr>
        </p:nvSpPr>
        <p:spPr>
          <a:xfrm>
            <a:off x="0" y="119900"/>
            <a:ext cx="964200" cy="473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4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ko" b="1">
                <a:latin typeface="Malgun Gothic"/>
                <a:ea typeface="Malgun Gothic"/>
                <a:cs typeface="Malgun Gothic"/>
                <a:sym typeface="Malgun Gothic"/>
              </a:rPr>
              <a:t>INDEX</a:t>
            </a:r>
            <a:endParaRPr b="1"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aphicFrame>
        <p:nvGraphicFramePr>
          <p:cNvPr id="82" name="Google Shape;82;p18"/>
          <p:cNvGraphicFramePr/>
          <p:nvPr/>
        </p:nvGraphicFramePr>
        <p:xfrm>
          <a:off x="3545150" y="378475"/>
          <a:ext cx="4871875" cy="3974700"/>
        </p:xfrm>
        <a:graphic>
          <a:graphicData uri="http://schemas.openxmlformats.org/drawingml/2006/table">
            <a:tbl>
              <a:tblPr>
                <a:noFill/>
                <a:tableStyleId>{BF604C12-F708-43BD-8611-FBB7BC8371F0}</a:tableStyleId>
              </a:tblPr>
              <a:tblGrid>
                <a:gridCol w="1927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3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i="0" u="none" strike="noStrike" cap="none">
                          <a:solidFill>
                            <a:srgbClr val="6A7E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Chapter 1. </a:t>
                      </a:r>
                      <a:endParaRPr sz="9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" sz="2100" b="1">
                          <a:solidFill>
                            <a:srgbClr val="434343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Overview </a:t>
                      </a:r>
                      <a:endParaRPr sz="2100" b="1">
                        <a:solidFill>
                          <a:srgbClr val="434343"/>
                        </a:solidFill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i="0" u="none" strike="noStrike" cap="none">
                          <a:solidFill>
                            <a:srgbClr val="6A7E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Chapter 2. </a:t>
                      </a:r>
                      <a:endParaRPr sz="9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" sz="2100" b="1">
                          <a:solidFill>
                            <a:srgbClr val="434343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MicroBlaze</a:t>
                      </a:r>
                      <a:endParaRPr/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i="0" u="none" strike="noStrike" cap="none">
                          <a:solidFill>
                            <a:srgbClr val="6A7E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Chapter 3. </a:t>
                      </a:r>
                      <a:endParaRPr sz="900" u="none" strike="noStrike" cap="non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" sz="2100" b="1">
                          <a:solidFill>
                            <a:srgbClr val="434343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AXI4-Lite</a:t>
                      </a:r>
                      <a:endParaRPr sz="2100">
                        <a:solidFill>
                          <a:srgbClr val="222222"/>
                        </a:solidFill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">
                          <a:solidFill>
                            <a:srgbClr val="6A7E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Chapter 4. </a:t>
                      </a:r>
                      <a:endParaRPr i="0" u="none" strike="noStrike" cap="none">
                        <a:solidFill>
                          <a:srgbClr val="6A7E74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100" b="1">
                          <a:solidFill>
                            <a:srgbClr val="434343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Peripheral </a:t>
                      </a:r>
                      <a:endParaRPr sz="2100" b="1">
                        <a:solidFill>
                          <a:srgbClr val="434343"/>
                        </a:solidFill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ko">
                          <a:solidFill>
                            <a:srgbClr val="6A7E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Chapter 5.</a:t>
                      </a:r>
                      <a:endParaRPr>
                        <a:solidFill>
                          <a:srgbClr val="6A7E74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2100" b="1">
                          <a:solidFill>
                            <a:srgbClr val="434343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Implementation</a:t>
                      </a:r>
                      <a:endParaRPr sz="2100" b="1">
                        <a:solidFill>
                          <a:srgbClr val="434343"/>
                        </a:solidFill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4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91714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ko">
                          <a:solidFill>
                            <a:srgbClr val="6A7E74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Chapter 6.</a:t>
                      </a:r>
                      <a:endParaRPr>
                        <a:solidFill>
                          <a:srgbClr val="6A7E74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2100" b="1">
                          <a:solidFill>
                            <a:srgbClr val="434343"/>
                          </a:solidFill>
                          <a:latin typeface="IBM Plex Sans KR"/>
                          <a:ea typeface="IBM Plex Sans KR"/>
                          <a:cs typeface="IBM Plex Sans KR"/>
                          <a:sym typeface="IBM Plex Sans KR"/>
                        </a:rPr>
                        <a:t>Conclusion</a:t>
                      </a:r>
                      <a:endParaRPr sz="2100" b="1">
                        <a:solidFill>
                          <a:srgbClr val="434343"/>
                        </a:solidFill>
                        <a:latin typeface="IBM Plex Sans KR"/>
                        <a:ea typeface="IBM Plex Sans KR"/>
                        <a:cs typeface="IBM Plex Sans KR"/>
                        <a:sym typeface="IBM Plex Sans KR"/>
                      </a:endParaRPr>
                    </a:p>
                  </a:txBody>
                  <a:tcPr marL="19050" marR="19050" marT="19050" marB="1905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ACCC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0000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>
            <a:spLocks noGrp="1"/>
          </p:cNvSpPr>
          <p:nvPr>
            <p:ph type="title"/>
          </p:nvPr>
        </p:nvSpPr>
        <p:spPr>
          <a:xfrm>
            <a:off x="0" y="87450"/>
            <a:ext cx="2196900" cy="4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Overview</a:t>
            </a:r>
            <a:endParaRPr/>
          </a:p>
        </p:txBody>
      </p:sp>
      <p:sp>
        <p:nvSpPr>
          <p:cNvPr id="88" name="Google Shape;88;p19"/>
          <p:cNvSpPr txBox="1"/>
          <p:nvPr/>
        </p:nvSpPr>
        <p:spPr>
          <a:xfrm>
            <a:off x="5047550" y="1002925"/>
            <a:ext cx="3804600" cy="290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700" b="1">
                <a:latin typeface="Noto Sans KR"/>
                <a:ea typeface="Noto Sans KR"/>
                <a:cs typeface="Noto Sans KR"/>
                <a:sym typeface="Noto Sans KR"/>
              </a:rPr>
              <a:t>프로젝트 목표</a:t>
            </a:r>
            <a:endParaRPr sz="1700"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oto Sans KR"/>
              <a:buChar char="●"/>
            </a:pPr>
            <a:r>
              <a:rPr lang="ko" sz="1600">
                <a:latin typeface="Noto Sans KR"/>
                <a:ea typeface="Noto Sans KR"/>
                <a:cs typeface="Noto Sans KR"/>
                <a:sym typeface="Noto Sans KR"/>
              </a:rPr>
              <a:t>MicroBlaze 기반 Software-Controlled SoC 구조 학습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oto Sans KR"/>
              <a:buChar char="●"/>
            </a:pPr>
            <a:r>
              <a:rPr lang="ko" sz="1600">
                <a:latin typeface="Noto Sans KR"/>
                <a:ea typeface="Noto Sans KR"/>
                <a:cs typeface="Noto Sans KR"/>
                <a:sym typeface="Noto Sans KR"/>
              </a:rPr>
              <a:t>AXI4-Lite를 통한 Memory-Mapped Peripheral 제어 이해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oto Sans KR"/>
              <a:buChar char="●"/>
            </a:pPr>
            <a:r>
              <a:rPr lang="ko" sz="1600">
                <a:latin typeface="Noto Sans KR"/>
                <a:ea typeface="Noto Sans KR"/>
                <a:cs typeface="Noto Sans KR"/>
                <a:sym typeface="Noto Sans KR"/>
              </a:rPr>
              <a:t>Vitis C Application과 Peripheral Register 연동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Noto Sans KR"/>
              <a:buChar char="●"/>
            </a:pPr>
            <a:r>
              <a:rPr lang="ko" sz="1600">
                <a:latin typeface="Noto Sans KR"/>
                <a:ea typeface="Noto Sans KR"/>
                <a:cs typeface="Noto Sans KR"/>
                <a:sym typeface="Noto Sans KR"/>
              </a:rPr>
              <a:t>I2C LCD / SPI Custom Peripheral 통합 및 Board 검증 </a:t>
            </a:r>
            <a:endParaRPr sz="16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89" name="Google Shape;89;p19" title="ChatGPT Image 2026년 6월 29일 오전 08_08_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4325" y="859550"/>
            <a:ext cx="4565873" cy="34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>
            <a:spLocks noGrp="1"/>
          </p:cNvSpPr>
          <p:nvPr>
            <p:ph type="title"/>
          </p:nvPr>
        </p:nvSpPr>
        <p:spPr>
          <a:xfrm>
            <a:off x="0" y="41361"/>
            <a:ext cx="2196900" cy="4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MicroBlaze-Based Control System</a:t>
            </a:r>
            <a:endParaRPr/>
          </a:p>
        </p:txBody>
      </p:sp>
      <p:pic>
        <p:nvPicPr>
          <p:cNvPr id="95" name="Google Shape;95;p20"/>
          <p:cNvPicPr preferRelativeResize="0"/>
          <p:nvPr/>
        </p:nvPicPr>
        <p:blipFill rotWithShape="1">
          <a:blip r:embed="rId3">
            <a:alphaModFix/>
          </a:blip>
          <a:srcRect l="42710" t="5562"/>
          <a:stretch/>
        </p:blipFill>
        <p:spPr>
          <a:xfrm>
            <a:off x="4504375" y="337938"/>
            <a:ext cx="4240174" cy="4467626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20"/>
          <p:cNvSpPr/>
          <p:nvPr/>
        </p:nvSpPr>
        <p:spPr>
          <a:xfrm>
            <a:off x="4677468" y="3229422"/>
            <a:ext cx="1384500" cy="558000"/>
          </a:xfrm>
          <a:prstGeom prst="rect">
            <a:avLst/>
          </a:prstGeom>
          <a:noFill/>
          <a:ln w="214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3000" tIns="103000" rIns="103000" bIns="1030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77"/>
          </a:p>
        </p:txBody>
      </p:sp>
      <p:cxnSp>
        <p:nvCxnSpPr>
          <p:cNvPr id="97" name="Google Shape;97;p20"/>
          <p:cNvCxnSpPr>
            <a:stCxn id="96" idx="1"/>
          </p:cNvCxnSpPr>
          <p:nvPr/>
        </p:nvCxnSpPr>
        <p:spPr>
          <a:xfrm rot="10800000">
            <a:off x="3505968" y="2786922"/>
            <a:ext cx="1171500" cy="721500"/>
          </a:xfrm>
          <a:prstGeom prst="straightConnector1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98" name="Google Shape;98;p20"/>
          <p:cNvSpPr/>
          <p:nvPr/>
        </p:nvSpPr>
        <p:spPr>
          <a:xfrm>
            <a:off x="220375" y="1096425"/>
            <a:ext cx="3285600" cy="2412000"/>
          </a:xfrm>
          <a:prstGeom prst="roundRect">
            <a:avLst>
              <a:gd name="adj" fmla="val 16667"/>
            </a:avLst>
          </a:pr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2200" b="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MicroBlaze Role</a:t>
            </a:r>
            <a:endParaRPr sz="22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32-bit Soft Processor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Vitis C Application 실행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AXI4-Lite Master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Peripheral Register 제어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ko" sz="16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Local BRAM 사용 </a:t>
            </a:r>
            <a:endParaRPr sz="16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1"/>
          <p:cNvSpPr txBox="1">
            <a:spLocks noGrp="1"/>
          </p:cNvSpPr>
          <p:nvPr>
            <p:ph type="title"/>
          </p:nvPr>
        </p:nvSpPr>
        <p:spPr>
          <a:xfrm>
            <a:off x="0" y="87450"/>
            <a:ext cx="2196900" cy="4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AXI4-Lite Interface</a:t>
            </a:r>
            <a:endParaRPr/>
          </a:p>
        </p:txBody>
      </p:sp>
      <p:pic>
        <p:nvPicPr>
          <p:cNvPr id="104" name="Google Shape;1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0973" y="728548"/>
            <a:ext cx="4102049" cy="2334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5241800" y="3331767"/>
            <a:ext cx="3241800" cy="161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 b="1" dirty="0">
                <a:latin typeface="Noto Sans KR"/>
                <a:ea typeface="Noto Sans KR"/>
                <a:cs typeface="Noto Sans KR"/>
                <a:sym typeface="Noto Sans KR"/>
              </a:rPr>
              <a:t>AXI4-Lite 특징</a:t>
            </a:r>
            <a:endParaRPr sz="13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dirty="0">
                <a:latin typeface="Noto Sans KR"/>
                <a:ea typeface="Noto Sans KR"/>
                <a:cs typeface="Noto Sans KR"/>
                <a:sym typeface="Noto Sans KR"/>
              </a:rPr>
              <a:t>• Memory-mapped register access</a:t>
            </a:r>
            <a:endParaRPr sz="11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dirty="0">
                <a:latin typeface="Noto Sans KR"/>
                <a:ea typeface="Noto Sans KR"/>
                <a:cs typeface="Noto Sans KR"/>
                <a:sym typeface="Noto Sans KR"/>
              </a:rPr>
              <a:t>• 5 independent channels: AW / W / B / AR / R</a:t>
            </a:r>
            <a:endParaRPr sz="11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dirty="0">
                <a:latin typeface="Noto Sans KR"/>
                <a:ea typeface="Noto Sans KR"/>
                <a:cs typeface="Noto Sans KR"/>
                <a:sym typeface="Noto Sans KR"/>
              </a:rPr>
              <a:t>• Single read/write transaction</a:t>
            </a:r>
            <a:endParaRPr sz="11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dirty="0">
                <a:latin typeface="Noto Sans KR"/>
                <a:ea typeface="Noto Sans KR"/>
                <a:cs typeface="Noto Sans KR"/>
                <a:sym typeface="Noto Sans KR"/>
              </a:rPr>
              <a:t>• No burst transfer</a:t>
            </a:r>
            <a:endParaRPr sz="11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100" dirty="0">
                <a:latin typeface="Noto Sans KR"/>
                <a:ea typeface="Noto Sans KR"/>
                <a:cs typeface="Noto Sans KR"/>
                <a:sym typeface="Noto Sans KR"/>
              </a:rPr>
              <a:t>• Transfer when VALID &amp;&amp; READY</a:t>
            </a:r>
            <a:endParaRPr sz="11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106" name="Google Shape;106;p21"/>
          <p:cNvGraphicFramePr/>
          <p:nvPr>
            <p:extLst>
              <p:ext uri="{D42A27DB-BD31-4B8C-83A1-F6EECF244321}">
                <p14:modId xmlns:p14="http://schemas.microsoft.com/office/powerpoint/2010/main" val="1040223544"/>
              </p:ext>
            </p:extLst>
          </p:nvPr>
        </p:nvGraphicFramePr>
        <p:xfrm>
          <a:off x="1023399" y="3376150"/>
          <a:ext cx="3358948" cy="1560526"/>
        </p:xfrm>
        <a:graphic>
          <a:graphicData uri="http://schemas.openxmlformats.org/drawingml/2006/table">
            <a:tbl>
              <a:tblPr>
                <a:noFill/>
                <a:tableStyleId>{BF604C12-F708-43BD-8611-FBB7BC8371F0}</a:tableStyleId>
              </a:tblPr>
              <a:tblGrid>
                <a:gridCol w="783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01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4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042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 dirty="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Item</a:t>
                      </a:r>
                      <a:endParaRPr sz="1000" b="1" dirty="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CC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AXI4-Lite</a:t>
                      </a:r>
                      <a:endParaRPr sz="1000" b="1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CCC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APB</a:t>
                      </a:r>
                      <a:endParaRPr sz="1000" b="1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BACC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4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Control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dirty="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VALID / READY</a:t>
                      </a:r>
                      <a:endParaRPr sz="1000" dirty="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PSEL / PENABLE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042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Structure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dirty="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 channels</a:t>
                      </a:r>
                      <a:endParaRPr sz="1000" dirty="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dirty="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Setup / Access</a:t>
                      </a:r>
                      <a:endParaRPr sz="1000" dirty="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4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Use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AXI SoC peripheral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dirty="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Simple peripheral</a:t>
                      </a:r>
                      <a:endParaRPr sz="1000" dirty="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042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Burst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sz="10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dirty="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No</a:t>
                      </a:r>
                      <a:endParaRPr sz="1000" dirty="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>
            <a:spLocks noGrp="1"/>
          </p:cNvSpPr>
          <p:nvPr>
            <p:ph type="title"/>
          </p:nvPr>
        </p:nvSpPr>
        <p:spPr>
          <a:xfrm>
            <a:off x="0" y="41730"/>
            <a:ext cx="2196900" cy="4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Memory-Mapped Address Map</a:t>
            </a:r>
            <a:endParaRPr/>
          </a:p>
        </p:txBody>
      </p:sp>
      <p:pic>
        <p:nvPicPr>
          <p:cNvPr id="112" name="Google Shape;112;p22"/>
          <p:cNvPicPr preferRelativeResize="0"/>
          <p:nvPr/>
        </p:nvPicPr>
        <p:blipFill rotWithShape="1">
          <a:blip r:embed="rId3">
            <a:alphaModFix/>
          </a:blip>
          <a:srcRect r="36012"/>
          <a:stretch/>
        </p:blipFill>
        <p:spPr>
          <a:xfrm>
            <a:off x="2689250" y="777875"/>
            <a:ext cx="4131624" cy="33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3" title="ChatGPT Image 2026년 6월 29일 오전 08_23_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200" y="1066175"/>
            <a:ext cx="4859175" cy="2826776"/>
          </a:xfrm>
          <a:prstGeom prst="rect">
            <a:avLst/>
          </a:prstGeom>
          <a:noFill/>
          <a:ln w="28575" cap="flat" cmpd="sng">
            <a:solidFill>
              <a:srgbClr val="BACCC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8" name="Google Shape;118;p23"/>
          <p:cNvSpPr txBox="1">
            <a:spLocks noGrp="1"/>
          </p:cNvSpPr>
          <p:nvPr>
            <p:ph type="title"/>
          </p:nvPr>
        </p:nvSpPr>
        <p:spPr>
          <a:xfrm>
            <a:off x="0" y="41730"/>
            <a:ext cx="2196900" cy="4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/>
              <a:t>Software Access Flow</a:t>
            </a:r>
            <a:endParaRPr sz="1520"/>
          </a:p>
        </p:txBody>
      </p:sp>
      <p:pic>
        <p:nvPicPr>
          <p:cNvPr id="119" name="Google Shape;119;p23"/>
          <p:cNvPicPr preferRelativeResize="0"/>
          <p:nvPr/>
        </p:nvPicPr>
        <p:blipFill rotWithShape="1">
          <a:blip r:embed="rId4">
            <a:alphaModFix/>
          </a:blip>
          <a:srcRect l="67710" t="60794"/>
          <a:stretch/>
        </p:blipFill>
        <p:spPr>
          <a:xfrm>
            <a:off x="233525" y="1987950"/>
            <a:ext cx="2685876" cy="1705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0" name="Google Shape;120;p23"/>
          <p:cNvCxnSpPr/>
          <p:nvPr/>
        </p:nvCxnSpPr>
        <p:spPr>
          <a:xfrm rot="10800000" flipH="1">
            <a:off x="2706950" y="1066550"/>
            <a:ext cx="1383000" cy="967500"/>
          </a:xfrm>
          <a:prstGeom prst="straightConnector1">
            <a:avLst/>
          </a:prstGeom>
          <a:noFill/>
          <a:ln w="28575" cap="flat" cmpd="sng">
            <a:solidFill>
              <a:srgbClr val="BACCC3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23"/>
          <p:cNvCxnSpPr/>
          <p:nvPr/>
        </p:nvCxnSpPr>
        <p:spPr>
          <a:xfrm>
            <a:off x="2753025" y="3585700"/>
            <a:ext cx="1290600" cy="307200"/>
          </a:xfrm>
          <a:prstGeom prst="straightConnector1">
            <a:avLst/>
          </a:prstGeom>
          <a:noFill/>
          <a:ln w="28575" cap="flat" cmpd="sng">
            <a:solidFill>
              <a:srgbClr val="BACCC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4"/>
          <p:cNvSpPr txBox="1">
            <a:spLocks noGrp="1"/>
          </p:cNvSpPr>
          <p:nvPr>
            <p:ph type="title"/>
          </p:nvPr>
        </p:nvSpPr>
        <p:spPr>
          <a:xfrm>
            <a:off x="0" y="41730"/>
            <a:ext cx="2196900" cy="49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1520"/>
              <a:t>C Application Architecture Layer</a:t>
            </a:r>
            <a:endParaRPr sz="1520"/>
          </a:p>
        </p:txBody>
      </p:sp>
      <p:pic>
        <p:nvPicPr>
          <p:cNvPr id="127" name="Google Shape;127;p24"/>
          <p:cNvPicPr preferRelativeResize="0"/>
          <p:nvPr/>
        </p:nvPicPr>
        <p:blipFill rotWithShape="1">
          <a:blip r:embed="rId3">
            <a:alphaModFix/>
          </a:blip>
          <a:srcRect b="8642"/>
          <a:stretch/>
        </p:blipFill>
        <p:spPr>
          <a:xfrm>
            <a:off x="465313" y="894750"/>
            <a:ext cx="8213376" cy="387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707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AXI4-Lite Peripheral Integration</a:t>
            </a:r>
            <a:endParaRPr/>
          </a:p>
        </p:txBody>
      </p:sp>
      <p:graphicFrame>
        <p:nvGraphicFramePr>
          <p:cNvPr id="133" name="Google Shape;133;p25"/>
          <p:cNvGraphicFramePr/>
          <p:nvPr/>
        </p:nvGraphicFramePr>
        <p:xfrm>
          <a:off x="1267588" y="1306400"/>
          <a:ext cx="6608825" cy="2532224"/>
        </p:xfrm>
        <a:graphic>
          <a:graphicData uri="http://schemas.openxmlformats.org/drawingml/2006/table">
            <a:tbl>
              <a:tblPr>
                <a:noFill/>
                <a:tableStyleId>{BF604C12-F708-43BD-8611-FBB7BC8371F0}</a:tableStyleId>
              </a:tblPr>
              <a:tblGrid>
                <a:gridCol w="122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1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4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Peripheral</a:t>
                      </a:r>
                      <a:endParaRPr sz="1500" b="1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Register Block</a:t>
                      </a:r>
                      <a:endParaRPr sz="1500" b="1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Core Logic</a:t>
                      </a:r>
                      <a:endParaRPr sz="1500" b="1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Role</a:t>
                      </a:r>
                      <a:endParaRPr sz="1500" b="1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4C2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4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GPIO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CR / IDR / ODR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Direction Control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SW / BTN / LED / FND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I2C LCD</a:t>
                      </a:r>
                      <a:endParaRPr sz="1200" b="1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CR / DATA / SR</a:t>
                      </a:r>
                      <a:endParaRPr sz="1200" b="1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I2C LCD Core</a:t>
                      </a:r>
                      <a:endParaRPr sz="1200" b="1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LCD Mode &amp; Data Display</a:t>
                      </a:r>
                      <a:endParaRPr sz="1200" b="1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4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Custom UART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SR / TDR / RDR / CR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UART TX/RX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Board-to-Board UART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SPI</a:t>
                      </a:r>
                      <a:endParaRPr sz="1200" b="1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CR / TX / RX / SR</a:t>
                      </a:r>
                      <a:endParaRPr sz="1200" b="1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SPI Master</a:t>
                      </a:r>
                      <a:endParaRPr sz="1200" b="1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Board-to-Board SPI</a:t>
                      </a:r>
                      <a:endParaRPr sz="1200" b="1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7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Timer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CTRL / PSC / ARR / CNT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Counter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Timer Counter</a:t>
                      </a:r>
                      <a:endParaRPr sz="12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/>
          <p:nvPr/>
        </p:nvSpPr>
        <p:spPr>
          <a:xfrm>
            <a:off x="5014788" y="2617971"/>
            <a:ext cx="3649200" cy="18018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116225" tIns="116225" rIns="116225" bIns="1162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780"/>
          </a:p>
        </p:txBody>
      </p:sp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707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I2C LCD Peripheral Structure</a:t>
            </a:r>
            <a:endParaRPr/>
          </a:p>
        </p:txBody>
      </p:sp>
      <p:pic>
        <p:nvPicPr>
          <p:cNvPr id="140" name="Google Shape;140;p26" title="ChatGPT Image 2026년 6월 29일 오전 09_05_4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4775" y="1011275"/>
            <a:ext cx="4544686" cy="3408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6"/>
          <p:cNvSpPr txBox="1"/>
          <p:nvPr/>
        </p:nvSpPr>
        <p:spPr>
          <a:xfrm>
            <a:off x="5014788" y="2740875"/>
            <a:ext cx="3487500" cy="152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6225" tIns="116225" rIns="116225" bIns="1162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Noto Sans KR"/>
                <a:ea typeface="Noto Sans KR"/>
                <a:cs typeface="Noto Sans KR"/>
                <a:sym typeface="Noto Sans KR"/>
              </a:rPr>
              <a:t>I2C LCD Control Flow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>1. Write mode/data + START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>2. LCD Core generates command sequence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>3. I2C Master drives SCL/SDA to LCD</a:t>
            </a:r>
            <a:endParaRPr sz="178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42" name="Google Shape;14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02488" y="1011278"/>
            <a:ext cx="2712125" cy="1000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707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SPI AXI-Lite Peripheral Overview</a:t>
            </a:r>
            <a:endParaRPr/>
          </a:p>
        </p:txBody>
      </p:sp>
      <p:pic>
        <p:nvPicPr>
          <p:cNvPr id="148" name="Google Shape;148;p27" title="ChatGPT Image 2026년 6월 29일 오전 01_55_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1188" y="756425"/>
            <a:ext cx="5121624" cy="28824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7"/>
          <p:cNvSpPr txBox="1"/>
          <p:nvPr/>
        </p:nvSpPr>
        <p:spPr>
          <a:xfrm>
            <a:off x="595200" y="3812675"/>
            <a:ext cx="79536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064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ko" sz="1700" dirty="0" smtClean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AXI4-Lite register block converts software writes into SPI control signals</a:t>
            </a:r>
            <a:endParaRPr sz="1700" dirty="0" smtClean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064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ko" sz="1700" dirty="0" smtClean="0">
                <a:solidFill>
                  <a:srgbClr val="6A7E74"/>
                </a:solidFill>
                <a:latin typeface="Noto Sans KR"/>
                <a:ea typeface="Noto Sans KR"/>
                <a:cs typeface="Noto Sans KR"/>
                <a:sym typeface="Noto Sans KR"/>
              </a:rPr>
              <a:t>start_pulse, tx_data, clk_div</a:t>
            </a:r>
            <a:r>
              <a:rPr lang="ko" sz="1700" dirty="0" smtClean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are generated by register access</a:t>
            </a:r>
            <a:endParaRPr sz="1700" dirty="0" smtClean="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marL="4064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 panose="020B0604020202020204" pitchFamily="34" charset="0"/>
              <a:buChar char="•"/>
            </a:pPr>
            <a:r>
              <a:rPr lang="ko" sz="1700" dirty="0" smtClean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SPI master drives </a:t>
            </a:r>
            <a:r>
              <a:rPr lang="ko" sz="1700" dirty="0" smtClean="0">
                <a:solidFill>
                  <a:srgbClr val="6A7E74"/>
                </a:solidFill>
                <a:latin typeface="Noto Sans KR"/>
                <a:ea typeface="Noto Sans KR"/>
                <a:cs typeface="Noto Sans KR"/>
                <a:sym typeface="Noto Sans KR"/>
              </a:rPr>
              <a:t>CS_n, SCLK, MOSI</a:t>
            </a:r>
            <a:r>
              <a:rPr lang="ko" sz="1700" dirty="0" smtClean="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and samples </a:t>
            </a:r>
            <a:r>
              <a:rPr lang="ko" sz="1700" dirty="0" smtClean="0">
                <a:solidFill>
                  <a:srgbClr val="6A7E74"/>
                </a:solidFill>
                <a:latin typeface="Noto Sans KR"/>
                <a:ea typeface="Noto Sans KR"/>
                <a:cs typeface="Noto Sans KR"/>
                <a:sym typeface="Noto Sans KR"/>
              </a:rPr>
              <a:t>MISO</a:t>
            </a:r>
            <a:endParaRPr sz="1700" dirty="0">
              <a:solidFill>
                <a:srgbClr val="6A7E74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22707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SPI Register Map </a:t>
            </a:r>
            <a:endParaRPr/>
          </a:p>
        </p:txBody>
      </p:sp>
      <p:pic>
        <p:nvPicPr>
          <p:cNvPr id="155" name="Google Shape;155;p28" title="ChatGPT Image 2026년 6월 29일 오전 09_00_51.png"/>
          <p:cNvPicPr preferRelativeResize="0"/>
          <p:nvPr/>
        </p:nvPicPr>
        <p:blipFill rotWithShape="1">
          <a:blip r:embed="rId3">
            <a:alphaModFix/>
          </a:blip>
          <a:srcRect t="7459"/>
          <a:stretch/>
        </p:blipFill>
        <p:spPr>
          <a:xfrm>
            <a:off x="1357501" y="712825"/>
            <a:ext cx="6184241" cy="429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/>
          <p:nvPr/>
        </p:nvSpPr>
        <p:spPr>
          <a:xfrm>
            <a:off x="1545050" y="2487150"/>
            <a:ext cx="2070900" cy="106500"/>
          </a:xfrm>
          <a:prstGeom prst="rect">
            <a:avLst/>
          </a:prstGeom>
          <a:solidFill>
            <a:srgbClr val="FEF44C">
              <a:alpha val="282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28"/>
          <p:cNvSpPr/>
          <p:nvPr/>
        </p:nvSpPr>
        <p:spPr>
          <a:xfrm>
            <a:off x="1545050" y="2645475"/>
            <a:ext cx="2070900" cy="106500"/>
          </a:xfrm>
          <a:prstGeom prst="rect">
            <a:avLst/>
          </a:prstGeom>
          <a:solidFill>
            <a:srgbClr val="FEF44C">
              <a:alpha val="282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28"/>
          <p:cNvSpPr/>
          <p:nvPr/>
        </p:nvSpPr>
        <p:spPr>
          <a:xfrm>
            <a:off x="1545050" y="2172175"/>
            <a:ext cx="2070900" cy="106500"/>
          </a:xfrm>
          <a:prstGeom prst="rect">
            <a:avLst/>
          </a:prstGeom>
          <a:solidFill>
            <a:srgbClr val="FEF44C">
              <a:alpha val="282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157;p28"/>
          <p:cNvSpPr/>
          <p:nvPr/>
        </p:nvSpPr>
        <p:spPr>
          <a:xfrm>
            <a:off x="4598437" y="4421166"/>
            <a:ext cx="2288138" cy="112734"/>
          </a:xfrm>
          <a:prstGeom prst="rect">
            <a:avLst/>
          </a:prstGeom>
          <a:solidFill>
            <a:srgbClr val="FEF44C">
              <a:alpha val="2829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23997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SPI Access Sequence</a:t>
            </a:r>
            <a:endParaRPr/>
          </a:p>
        </p:txBody>
      </p:sp>
      <p:pic>
        <p:nvPicPr>
          <p:cNvPr id="164" name="Google Shape;16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5025" y="1700050"/>
            <a:ext cx="8633950" cy="174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0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SPI UVM Architecture</a:t>
            </a:r>
            <a:endParaRPr/>
          </a:p>
        </p:txBody>
      </p:sp>
      <p:pic>
        <p:nvPicPr>
          <p:cNvPr id="170" name="Google Shape;17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2250" y="1594737"/>
            <a:ext cx="3866525" cy="19540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1" name="Google Shape;171;p30"/>
          <p:cNvGraphicFramePr/>
          <p:nvPr/>
        </p:nvGraphicFramePr>
        <p:xfrm>
          <a:off x="4227700" y="79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{BF604C12-F708-43BD-8611-FBB7BC8371F0}</a:tableStyleId>
              </a:tblPr>
              <a:tblGrid>
                <a:gridCol w="1301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08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2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86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Component</a:t>
                      </a:r>
                      <a:endParaRPr sz="1000" b="1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Main Role</a:t>
                      </a:r>
                      <a:endParaRPr sz="1000" b="1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Output</a:t>
                      </a:r>
                      <a:endParaRPr sz="1000" b="1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17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axi_lite_sequence</a:t>
                      </a:r>
                      <a:endParaRPr sz="1000" b="1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SPI 전송 시나리오 생성</a:t>
                      </a:r>
                      <a:endParaRPr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tx_data, slave_tx_data, clk_div</a:t>
                      </a:r>
                      <a:endParaRPr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axi_lite_driver</a:t>
                      </a:r>
                      <a:endParaRPr sz="1000" b="1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AXI4-Lite register write/read 구동</a:t>
                      </a:r>
                      <a:endParaRPr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DUT AXI Interface</a:t>
                      </a:r>
                      <a:endParaRPr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axi_lite_monitor</a:t>
                      </a:r>
                      <a:endParaRPr sz="1000" b="1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AXI write/read transaction 관찰</a:t>
                      </a:r>
                      <a:endParaRPr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Scoreboard / Coverage</a:t>
                      </a:r>
                      <a:endParaRPr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spi_monitor</a:t>
                      </a:r>
                      <a:endParaRPr sz="1000" b="1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CS_N, SCLK, MOSI, MISO 관찰</a:t>
                      </a:r>
                      <a:endParaRPr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Scoreboard / Coverage</a:t>
                      </a:r>
                      <a:endParaRPr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scoreboard</a:t>
                      </a:r>
                      <a:endParaRPr sz="1000" b="1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AXI 데이터와 SPI bus 데이터 비교</a:t>
                      </a:r>
                      <a:endParaRPr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Pass / Fail</a:t>
                      </a:r>
                      <a:endParaRPr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8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 b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coverage</a:t>
                      </a:r>
                      <a:endParaRPr sz="1000" b="1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주요 기능 coverpoint 수집</a:t>
                      </a:r>
                      <a:endParaRPr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Coverage Report</a:t>
                      </a:r>
                      <a:endParaRPr sz="10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1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SPI UVM Verification</a:t>
            </a:r>
            <a:endParaRPr/>
          </a:p>
        </p:txBody>
      </p:sp>
      <p:graphicFrame>
        <p:nvGraphicFramePr>
          <p:cNvPr id="177" name="Google Shape;177;p31"/>
          <p:cNvGraphicFramePr/>
          <p:nvPr/>
        </p:nvGraphicFramePr>
        <p:xfrm>
          <a:off x="924050" y="755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{BF604C12-F708-43BD-8611-FBB7BC8371F0}</a:tableStyleId>
              </a:tblPr>
              <a:tblGrid>
                <a:gridCol w="73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23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3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86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Step</a:t>
                      </a:r>
                      <a:endParaRPr sz="1200" b="1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Action</a:t>
                      </a:r>
                      <a:endParaRPr sz="1200" b="1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Register / Signal</a:t>
                      </a:r>
                      <a:endParaRPr sz="1200" b="1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 b="1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Expected Behavior</a:t>
                      </a:r>
                      <a:endParaRPr sz="1200" b="1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375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Create transfer item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tx_data, slave_tx_data, clk_div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전송 시나리오 생성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86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Write TX data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SPI_TXDATA 0x04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MOSI로 전송할 데이터 저장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86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Set slave response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slave_tx_data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MISO 응답 데이터 준비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86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4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Start transfer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SPI_CR 0x00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START pulse 발생, SPI 전송 시작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686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5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Poll done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SPI_SR 0x0C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DONE == 1까지 대기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686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6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Read RX data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SPI_RXDATA 0x08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MISO에서 수신한 데이터 확인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68600">
                <a:tc>
                  <a:txBody>
                    <a:bodyPr/>
                    <a:lstStyle/>
                    <a:p>
                      <a:pPr marL="0" lvl="0" indent="0" algn="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7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Check result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Scoreboard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200">
                          <a:solidFill>
                            <a:schemeClr val="dk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TX/MOSI, RX/MISO 비교</a:t>
                      </a:r>
                      <a:endParaRPr sz="1200">
                        <a:solidFill>
                          <a:schemeClr val="dk1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2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SPI UVM Verification</a:t>
            </a:r>
            <a:endParaRPr sz="1920"/>
          </a:p>
        </p:txBody>
      </p:sp>
      <p:pic>
        <p:nvPicPr>
          <p:cNvPr id="183" name="Google Shape;183;p32"/>
          <p:cNvPicPr preferRelativeResize="0"/>
          <p:nvPr/>
        </p:nvPicPr>
        <p:blipFill rotWithShape="1">
          <a:blip r:embed="rId3">
            <a:alphaModFix/>
          </a:blip>
          <a:srcRect b="26145"/>
          <a:stretch/>
        </p:blipFill>
        <p:spPr>
          <a:xfrm>
            <a:off x="237175" y="2852748"/>
            <a:ext cx="4162012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32"/>
          <p:cNvPicPr preferRelativeResize="0"/>
          <p:nvPr/>
        </p:nvPicPr>
        <p:blipFill rotWithShape="1">
          <a:blip r:embed="rId4">
            <a:alphaModFix/>
          </a:blip>
          <a:srcRect l="2006" r="11135" b="20660"/>
          <a:stretch/>
        </p:blipFill>
        <p:spPr>
          <a:xfrm>
            <a:off x="2994850" y="960450"/>
            <a:ext cx="5972575" cy="127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2" title="image (21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8600" y="717987"/>
            <a:ext cx="2263150" cy="19993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2"/>
          <p:cNvSpPr txBox="1"/>
          <p:nvPr/>
        </p:nvSpPr>
        <p:spPr>
          <a:xfrm>
            <a:off x="5088025" y="2453325"/>
            <a:ext cx="2823900" cy="2555100"/>
          </a:xfrm>
          <a:prstGeom prst="rect">
            <a:avLst/>
          </a:prstGeom>
          <a:solidFill>
            <a:srgbClr val="CFE2F3"/>
          </a:solidFill>
          <a:ln w="28575" cap="flat" cmpd="sng">
            <a:solidFill>
              <a:srgbClr val="CFE2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Noto Sans KR"/>
                <a:ea typeface="Noto Sans KR"/>
                <a:cs typeface="Noto Sans KR"/>
                <a:sym typeface="Noto Sans KR"/>
              </a:rPr>
              <a:t>Functional Coverage: 100%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>- TXDATA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>- START_WRITE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>- DONE_STATUS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>- SPI_COMPLETE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Noto Sans KR"/>
                <a:ea typeface="Noto Sans KR"/>
                <a:cs typeface="Noto Sans KR"/>
                <a:sym typeface="Noto Sans KR"/>
              </a:rPr>
              <a:t>Code Coverage: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>- DUT: 70.76%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>- SPI Master: 86.94%</a:t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>- SPI Bus: 100%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b="1">
                <a:latin typeface="Noto Sans KR"/>
                <a:ea typeface="Noto Sans KR"/>
                <a:cs typeface="Noto Sans KR"/>
                <a:sym typeface="Noto Sans KR"/>
              </a:rPr>
              <a:t>Scoreboard: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>- 32 Pass / 0 Fail</a:t>
            </a:r>
            <a:endParaRPr b="1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Board Validation Overview</a:t>
            </a:r>
            <a:endParaRPr/>
          </a:p>
        </p:txBody>
      </p:sp>
      <p:graphicFrame>
        <p:nvGraphicFramePr>
          <p:cNvPr id="192" name="Google Shape;192;p33"/>
          <p:cNvGraphicFramePr/>
          <p:nvPr/>
        </p:nvGraphicFramePr>
        <p:xfrm>
          <a:off x="2278775" y="1062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{BF604C12-F708-43BD-8611-FBB7BC8371F0}</a:tableStyleId>
              </a:tblPr>
              <a:tblGrid>
                <a:gridCol w="130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8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3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Peripheral</a:t>
                      </a:r>
                      <a:endParaRPr sz="1500" b="1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500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Validation Target</a:t>
                      </a:r>
                      <a:endParaRPr sz="1500" b="1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3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GPIO</a:t>
                      </a:r>
                      <a:endParaRPr sz="13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SW / BTN 입력, LED / FND 출력 확인 </a:t>
                      </a:r>
                      <a:endParaRPr sz="13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 b="1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I2C LCD</a:t>
                      </a:r>
                      <a:endParaRPr sz="1300" b="1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 b="1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LCD mode/data 표시 확인 </a:t>
                      </a:r>
                      <a:endParaRPr sz="1300" b="1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3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Custom UART</a:t>
                      </a:r>
                      <a:endParaRPr sz="13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Master → Slave board 데이터 전송 확인 </a:t>
                      </a:r>
                      <a:endParaRPr sz="13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3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 b="1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SPI</a:t>
                      </a:r>
                      <a:endParaRPr sz="1300" b="1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 b="1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Master → Slave board 데이터 전송 확인 </a:t>
                      </a:r>
                      <a:endParaRPr sz="1300" b="1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31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Timer</a:t>
                      </a:r>
                      <a:endParaRPr sz="13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300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Timer Counter</a:t>
                      </a:r>
                      <a:endParaRPr sz="1300"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4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Board Validation</a:t>
            </a:r>
            <a:endParaRPr/>
          </a:p>
        </p:txBody>
      </p:sp>
      <p:pic>
        <p:nvPicPr>
          <p:cNvPr id="198" name="Google Shape;19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63750" y="1632500"/>
            <a:ext cx="2484200" cy="1630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94400" y="1632500"/>
            <a:ext cx="2484200" cy="1630268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4"/>
          <p:cNvSpPr txBox="1"/>
          <p:nvPr/>
        </p:nvSpPr>
        <p:spPr>
          <a:xfrm>
            <a:off x="4196950" y="3473554"/>
            <a:ext cx="14178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450" tIns="64450" rIns="64450" bIns="64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69">
                <a:solidFill>
                  <a:schemeClr val="dk2"/>
                </a:solidFill>
              </a:rPr>
              <a:t>Master Board</a:t>
            </a:r>
            <a:endParaRPr sz="1269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9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9">
              <a:solidFill>
                <a:schemeClr val="dk2"/>
              </a:solidFill>
            </a:endParaRPr>
          </a:p>
        </p:txBody>
      </p:sp>
      <p:sp>
        <p:nvSpPr>
          <p:cNvPr id="201" name="Google Shape;201;p34"/>
          <p:cNvSpPr txBox="1"/>
          <p:nvPr/>
        </p:nvSpPr>
        <p:spPr>
          <a:xfrm>
            <a:off x="7027599" y="3473554"/>
            <a:ext cx="1417800" cy="3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450" tIns="64450" rIns="64450" bIns="6445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269">
                <a:solidFill>
                  <a:schemeClr val="dk2"/>
                </a:solidFill>
              </a:rPr>
              <a:t>Slave Board</a:t>
            </a:r>
            <a:endParaRPr sz="1269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9">
              <a:solidFill>
                <a:schemeClr val="dk2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69">
              <a:solidFill>
                <a:schemeClr val="dk2"/>
              </a:solidFill>
            </a:endParaRPr>
          </a:p>
        </p:txBody>
      </p:sp>
      <p:sp>
        <p:nvSpPr>
          <p:cNvPr id="202" name="Google Shape;202;p34"/>
          <p:cNvSpPr/>
          <p:nvPr/>
        </p:nvSpPr>
        <p:spPr>
          <a:xfrm>
            <a:off x="4104222" y="2608313"/>
            <a:ext cx="594900" cy="212400"/>
          </a:xfrm>
          <a:prstGeom prst="rect">
            <a:avLst/>
          </a:prstGeom>
          <a:noFill/>
          <a:ln w="20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450" tIns="64450" rIns="64450" bIns="64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87"/>
          </a:p>
        </p:txBody>
      </p:sp>
      <p:sp>
        <p:nvSpPr>
          <p:cNvPr id="203" name="Google Shape;203;p34"/>
          <p:cNvSpPr/>
          <p:nvPr/>
        </p:nvSpPr>
        <p:spPr>
          <a:xfrm>
            <a:off x="6940018" y="2608313"/>
            <a:ext cx="594900" cy="212400"/>
          </a:xfrm>
          <a:prstGeom prst="rect">
            <a:avLst/>
          </a:prstGeom>
          <a:noFill/>
          <a:ln w="20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450" tIns="64450" rIns="64450" bIns="64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87"/>
          </a:p>
        </p:txBody>
      </p:sp>
      <p:sp>
        <p:nvSpPr>
          <p:cNvPr id="204" name="Google Shape;204;p34"/>
          <p:cNvSpPr/>
          <p:nvPr/>
        </p:nvSpPr>
        <p:spPr>
          <a:xfrm>
            <a:off x="4926395" y="2932136"/>
            <a:ext cx="938700" cy="212400"/>
          </a:xfrm>
          <a:prstGeom prst="rect">
            <a:avLst/>
          </a:prstGeom>
          <a:noFill/>
          <a:ln w="20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450" tIns="64450" rIns="64450" bIns="64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87"/>
          </a:p>
        </p:txBody>
      </p:sp>
      <p:sp>
        <p:nvSpPr>
          <p:cNvPr id="205" name="Google Shape;205;p34"/>
          <p:cNvSpPr/>
          <p:nvPr/>
        </p:nvSpPr>
        <p:spPr>
          <a:xfrm>
            <a:off x="5209165" y="2474689"/>
            <a:ext cx="425100" cy="316200"/>
          </a:xfrm>
          <a:prstGeom prst="rect">
            <a:avLst/>
          </a:prstGeom>
          <a:noFill/>
          <a:ln w="20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450" tIns="64450" rIns="64450" bIns="64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87"/>
          </a:p>
        </p:txBody>
      </p:sp>
      <p:sp>
        <p:nvSpPr>
          <p:cNvPr id="206" name="Google Shape;206;p34"/>
          <p:cNvSpPr/>
          <p:nvPr/>
        </p:nvSpPr>
        <p:spPr>
          <a:xfrm>
            <a:off x="8020323" y="2474689"/>
            <a:ext cx="425100" cy="316200"/>
          </a:xfrm>
          <a:prstGeom prst="rect">
            <a:avLst/>
          </a:prstGeom>
          <a:noFill/>
          <a:ln w="20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450" tIns="64450" rIns="64450" bIns="64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87"/>
          </a:p>
        </p:txBody>
      </p:sp>
      <p:graphicFrame>
        <p:nvGraphicFramePr>
          <p:cNvPr id="207" name="Google Shape;207;p34"/>
          <p:cNvGraphicFramePr/>
          <p:nvPr/>
        </p:nvGraphicFramePr>
        <p:xfrm>
          <a:off x="196175" y="998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{BF604C12-F708-43BD-8611-FBB7BC8371F0}</a:tableStyleId>
              </a:tblPr>
              <a:tblGrid>
                <a:gridCol w="1133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49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84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I/O</a:t>
                      </a:r>
                      <a:endParaRPr b="1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Function</a:t>
                      </a:r>
                      <a:endParaRPr b="1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2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SW[7:0]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전송 데이터 입력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BTNU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Timer Mode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BTNL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SPI Send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BTNR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UART Send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BTND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Clear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BTNC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System Reset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LCD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Mode/Data 표시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LED/FND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>
                          <a:solidFill>
                            <a:srgbClr val="434343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Data/Debug 출력</a:t>
                      </a:r>
                      <a:endParaRPr>
                        <a:solidFill>
                          <a:srgbClr val="434343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L="76200" marR="76200" marT="19050" marB="19050" anchor="ctr">
                    <a:lnL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6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6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08" name="Google Shape;208;p34"/>
          <p:cNvSpPr/>
          <p:nvPr/>
        </p:nvSpPr>
        <p:spPr>
          <a:xfrm>
            <a:off x="4926400" y="2820732"/>
            <a:ext cx="938700" cy="81900"/>
          </a:xfrm>
          <a:prstGeom prst="rect">
            <a:avLst/>
          </a:prstGeom>
          <a:noFill/>
          <a:ln w="20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450" tIns="64450" rIns="64450" bIns="64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87"/>
          </a:p>
        </p:txBody>
      </p:sp>
      <p:sp>
        <p:nvSpPr>
          <p:cNvPr id="209" name="Google Shape;209;p34"/>
          <p:cNvSpPr/>
          <p:nvPr/>
        </p:nvSpPr>
        <p:spPr>
          <a:xfrm>
            <a:off x="7716795" y="2932136"/>
            <a:ext cx="938700" cy="212400"/>
          </a:xfrm>
          <a:prstGeom prst="rect">
            <a:avLst/>
          </a:prstGeom>
          <a:noFill/>
          <a:ln w="20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450" tIns="64450" rIns="64450" bIns="64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87"/>
          </a:p>
        </p:txBody>
      </p:sp>
      <p:sp>
        <p:nvSpPr>
          <p:cNvPr id="210" name="Google Shape;210;p34"/>
          <p:cNvSpPr/>
          <p:nvPr/>
        </p:nvSpPr>
        <p:spPr>
          <a:xfrm>
            <a:off x="7716800" y="2820732"/>
            <a:ext cx="938700" cy="81900"/>
          </a:xfrm>
          <a:prstGeom prst="rect">
            <a:avLst/>
          </a:prstGeom>
          <a:noFill/>
          <a:ln w="201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450" tIns="64450" rIns="64450" bIns="6445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987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5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Board Validation</a:t>
            </a:r>
            <a:endParaRPr/>
          </a:p>
        </p:txBody>
      </p:sp>
      <p:pic>
        <p:nvPicPr>
          <p:cNvPr id="216" name="Google Shape;21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3538" y="1922750"/>
            <a:ext cx="2551912" cy="16747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1345" y="1922750"/>
            <a:ext cx="2551912" cy="1674704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5"/>
          <p:cNvSpPr txBox="1"/>
          <p:nvPr/>
        </p:nvSpPr>
        <p:spPr>
          <a:xfrm>
            <a:off x="2091334" y="3813986"/>
            <a:ext cx="14565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200" tIns="66200" rIns="66200" bIns="6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4">
                <a:solidFill>
                  <a:schemeClr val="dk2"/>
                </a:solidFill>
              </a:rPr>
              <a:t>Master Board</a:t>
            </a:r>
            <a:endParaRPr sz="1304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4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4">
              <a:solidFill>
                <a:schemeClr val="dk2"/>
              </a:solidFill>
            </a:endParaRPr>
          </a:p>
        </p:txBody>
      </p:sp>
      <p:sp>
        <p:nvSpPr>
          <p:cNvPr id="219" name="Google Shape;219;p35"/>
          <p:cNvSpPr txBox="1"/>
          <p:nvPr/>
        </p:nvSpPr>
        <p:spPr>
          <a:xfrm>
            <a:off x="5249078" y="3775913"/>
            <a:ext cx="14565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200" tIns="66200" rIns="66200" bIns="66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4">
                <a:solidFill>
                  <a:schemeClr val="dk2"/>
                </a:solidFill>
              </a:rPr>
              <a:t>Slave Board</a:t>
            </a:r>
            <a:endParaRPr sz="1304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4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4">
              <a:solidFill>
                <a:schemeClr val="dk2"/>
              </a:solidFill>
            </a:endParaRPr>
          </a:p>
        </p:txBody>
      </p:sp>
      <p:sp>
        <p:nvSpPr>
          <p:cNvPr id="220" name="Google Shape;220;p35"/>
          <p:cNvSpPr txBox="1"/>
          <p:nvPr/>
        </p:nvSpPr>
        <p:spPr>
          <a:xfrm>
            <a:off x="2936250" y="859125"/>
            <a:ext cx="3271500" cy="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  <a:latin typeface="Noto Sans KR"/>
                <a:ea typeface="Noto Sans KR"/>
                <a:cs typeface="Noto Sans KR"/>
                <a:sym typeface="Noto Sans KR"/>
              </a:rPr>
              <a:t>UART &amp; SPI Board-to-Board Validation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1" name="Google Shape;221;p35"/>
          <p:cNvSpPr/>
          <p:nvPr/>
        </p:nvSpPr>
        <p:spPr>
          <a:xfrm>
            <a:off x="3957352" y="2369996"/>
            <a:ext cx="480000" cy="324900"/>
          </a:xfrm>
          <a:prstGeom prst="rect">
            <a:avLst/>
          </a:prstGeom>
          <a:noFill/>
          <a:ln w="20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200" tIns="66200" rIns="66200" bIns="66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4"/>
          </a:p>
        </p:txBody>
      </p:sp>
      <p:sp>
        <p:nvSpPr>
          <p:cNvPr id="222" name="Google Shape;222;p35"/>
          <p:cNvSpPr/>
          <p:nvPr/>
        </p:nvSpPr>
        <p:spPr>
          <a:xfrm>
            <a:off x="4769362" y="2841121"/>
            <a:ext cx="333600" cy="271500"/>
          </a:xfrm>
          <a:prstGeom prst="rect">
            <a:avLst/>
          </a:prstGeom>
          <a:noFill/>
          <a:ln w="207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200" tIns="66200" rIns="66200" bIns="66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4"/>
          </a:p>
        </p:txBody>
      </p:sp>
      <p:sp>
        <p:nvSpPr>
          <p:cNvPr id="223" name="Google Shape;223;p35"/>
          <p:cNvSpPr/>
          <p:nvPr/>
        </p:nvSpPr>
        <p:spPr>
          <a:xfrm>
            <a:off x="3957352" y="2841121"/>
            <a:ext cx="436800" cy="271500"/>
          </a:xfrm>
          <a:prstGeom prst="rect">
            <a:avLst/>
          </a:prstGeom>
          <a:noFill/>
          <a:ln w="20700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200" tIns="66200" rIns="66200" bIns="66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4"/>
          </a:p>
        </p:txBody>
      </p:sp>
      <p:sp>
        <p:nvSpPr>
          <p:cNvPr id="224" name="Google Shape;224;p35"/>
          <p:cNvSpPr/>
          <p:nvPr/>
        </p:nvSpPr>
        <p:spPr>
          <a:xfrm>
            <a:off x="6870464" y="2369996"/>
            <a:ext cx="480000" cy="324900"/>
          </a:xfrm>
          <a:prstGeom prst="rect">
            <a:avLst/>
          </a:prstGeom>
          <a:noFill/>
          <a:ln w="207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6200" tIns="66200" rIns="66200" bIns="66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4"/>
          </a:p>
        </p:txBody>
      </p:sp>
      <p:cxnSp>
        <p:nvCxnSpPr>
          <p:cNvPr id="225" name="Google Shape;225;p35"/>
          <p:cNvCxnSpPr>
            <a:stCxn id="221" idx="0"/>
            <a:endCxn id="224" idx="0"/>
          </p:cNvCxnSpPr>
          <p:nvPr/>
        </p:nvCxnSpPr>
        <p:spPr>
          <a:xfrm rot="-5400000" flipH="1">
            <a:off x="5653552" y="913796"/>
            <a:ext cx="600" cy="2913000"/>
          </a:xfrm>
          <a:prstGeom prst="bentConnector3">
            <a:avLst>
              <a:gd name="adj1" fmla="val -94749309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6" name="Google Shape;226;p35"/>
          <p:cNvCxnSpPr/>
          <p:nvPr/>
        </p:nvCxnSpPr>
        <p:spPr>
          <a:xfrm>
            <a:off x="4384352" y="2894371"/>
            <a:ext cx="375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27" name="Google Shape;227;p35"/>
          <p:cNvCxnSpPr/>
          <p:nvPr/>
        </p:nvCxnSpPr>
        <p:spPr>
          <a:xfrm>
            <a:off x="4384352" y="3061771"/>
            <a:ext cx="375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Board Validation</a:t>
            </a:r>
            <a:endParaRPr/>
          </a:p>
        </p:txBody>
      </p:sp>
      <p:pic>
        <p:nvPicPr>
          <p:cNvPr id="233" name="Google Shape;23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97313" y="1430800"/>
            <a:ext cx="3523924" cy="2312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36"/>
          <p:cNvSpPr txBox="1"/>
          <p:nvPr/>
        </p:nvSpPr>
        <p:spPr>
          <a:xfrm>
            <a:off x="3723213" y="4119525"/>
            <a:ext cx="2011200" cy="4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Master Board</a:t>
            </a: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235" name="Google Shape;235;p36"/>
          <p:cNvSpPr txBox="1"/>
          <p:nvPr/>
        </p:nvSpPr>
        <p:spPr>
          <a:xfrm>
            <a:off x="3906150" y="803000"/>
            <a:ext cx="1331700" cy="44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sz="1800">
                <a:solidFill>
                  <a:schemeClr val="dk2"/>
                </a:solidFill>
              </a:rPr>
              <a:t>I2C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36" name="Google Shape;236;p36"/>
          <p:cNvSpPr/>
          <p:nvPr/>
        </p:nvSpPr>
        <p:spPr>
          <a:xfrm>
            <a:off x="4397313" y="2057363"/>
            <a:ext cx="663000" cy="448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37" name="Google Shape;23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2750" y="1858491"/>
            <a:ext cx="2712125" cy="1000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Implementation</a:t>
            </a:r>
            <a:endParaRPr/>
          </a:p>
        </p:txBody>
      </p:sp>
      <p:pic>
        <p:nvPicPr>
          <p:cNvPr id="2" name="발표 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961813" y="968585"/>
            <a:ext cx="7078133" cy="39814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7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Implementation</a:t>
            </a: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177071" y="505656"/>
            <a:ext cx="220095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 err="1" smtClean="0">
                <a:latin typeface="Noto Sans KR" panose="020B0200000000000000" pitchFamily="34" charset="-128"/>
                <a:ea typeface="Noto Sans KR" panose="020B0200000000000000" pitchFamily="34" charset="-128"/>
              </a:rPr>
              <a:t>Communitcation</a:t>
            </a:r>
            <a:endParaRPr lang="ko-KR" altLang="en-US" b="1" dirty="0">
              <a:latin typeface="Noto Sans KR" panose="020B0200000000000000" pitchFamily="34" charset="-128"/>
              <a:ea typeface="Noto Sans KR" panose="020B0200000000000000" pitchFamily="34" charset="-128"/>
            </a:endParaRPr>
          </a:p>
        </p:txBody>
      </p:sp>
      <p:pic>
        <p:nvPicPr>
          <p:cNvPr id="4" name="발표 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78559" y="756808"/>
            <a:ext cx="7253486" cy="4080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760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8"/>
          <p:cNvSpPr txBox="1">
            <a:spLocks noGrp="1"/>
          </p:cNvSpPr>
          <p:nvPr>
            <p:ph type="title"/>
          </p:nvPr>
        </p:nvSpPr>
        <p:spPr>
          <a:xfrm>
            <a:off x="0" y="0"/>
            <a:ext cx="2536500" cy="58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Conclusion</a:t>
            </a:r>
            <a:endParaRPr/>
          </a:p>
        </p:txBody>
      </p:sp>
      <p:sp>
        <p:nvSpPr>
          <p:cNvPr id="248" name="Google Shape;248;p38"/>
          <p:cNvSpPr txBox="1"/>
          <p:nvPr/>
        </p:nvSpPr>
        <p:spPr>
          <a:xfrm>
            <a:off x="290700" y="875350"/>
            <a:ext cx="8407800" cy="15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900" b="1" dirty="0">
                <a:latin typeface="Noto Sans KR"/>
                <a:ea typeface="Noto Sans KR"/>
                <a:cs typeface="Noto Sans KR"/>
                <a:sym typeface="Noto Sans KR"/>
              </a:rPr>
              <a:t>Learning Outcomes </a:t>
            </a:r>
            <a:endParaRPr sz="19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dirty="0">
                <a:latin typeface="Noto Sans KR"/>
                <a:ea typeface="Noto Sans KR"/>
                <a:cs typeface="Noto Sans KR"/>
                <a:sym typeface="Noto Sans KR"/>
              </a:rPr>
              <a:t>• MicroBlaze와 AXI4-Lite를 이용해 C Application에서 Hardware Register를 제어하는 구조를 이해하였다.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dirty="0">
                <a:latin typeface="Noto Sans KR"/>
                <a:ea typeface="Noto Sans KR"/>
                <a:cs typeface="Noto Sans KR"/>
                <a:sym typeface="Noto Sans KR"/>
              </a:rPr>
              <a:t>• Base Address + Register Offset 방식으로 GPIO, I2C LCD, UART, SPI, Timer Peripheral을 통합하는 방법을 학습하였다.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 dirty="0">
                <a:latin typeface="Noto Sans KR"/>
                <a:ea typeface="Noto Sans KR"/>
                <a:cs typeface="Noto Sans KR"/>
                <a:sym typeface="Noto Sans KR"/>
              </a:rPr>
              <a:t>• SPI Peripheral을 통해 Register Map 설계, Access Sequence, Board-to-Board 통신, UVM 검증 흐름을 경험하였다.</a:t>
            </a:r>
            <a:endParaRPr sz="2000" b="1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9" name="Google Shape;249;p38"/>
          <p:cNvSpPr txBox="1"/>
          <p:nvPr/>
        </p:nvSpPr>
        <p:spPr>
          <a:xfrm>
            <a:off x="368100" y="2932750"/>
            <a:ext cx="5012100" cy="159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ko" sz="1900" b="1" dirty="0">
                <a:latin typeface="Noto Sans KR"/>
                <a:ea typeface="Noto Sans KR"/>
                <a:cs typeface="Noto Sans KR"/>
                <a:sym typeface="Noto Sans KR"/>
              </a:rPr>
              <a:t>Key Takeaways </a:t>
            </a:r>
            <a:endParaRPr sz="1900" b="1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dirty="0">
                <a:latin typeface="Noto Sans KR"/>
                <a:ea typeface="Noto Sans KR"/>
                <a:cs typeface="Noto Sans KR"/>
                <a:sym typeface="Noto Sans KR"/>
              </a:rPr>
              <a:t>• Peripheral 설계는 Register Map과 Software 제어 흐름이 중요함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200" dirty="0">
                <a:latin typeface="Noto Sans KR"/>
                <a:ea typeface="Noto Sans KR"/>
                <a:cs typeface="Noto Sans KR"/>
                <a:sym typeface="Noto Sans KR"/>
              </a:rPr>
              <a:t>• Board 검증에서는 배선, Reset, Status polling까지 고려해야 함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ko" sz="1200" dirty="0">
                <a:latin typeface="Noto Sans KR"/>
                <a:ea typeface="Noto Sans KR"/>
                <a:cs typeface="Noto Sans KR"/>
                <a:sym typeface="Noto Sans KR"/>
              </a:rPr>
              <a:t>• Scoreboard / Coverage 기반 검증이 단순 파형 확인보다 체계적임 </a:t>
            </a:r>
            <a:endParaRPr sz="1200" dirty="0"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Microsoft Office PowerPoint</Application>
  <PresentationFormat>화면 슬라이드 쇼(16:9)</PresentationFormat>
  <Paragraphs>215</Paragraphs>
  <Slides>23</Slides>
  <Notes>23</Notes>
  <HiddenSlides>0</HiddenSlides>
  <MMClips>2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8" baseType="lpstr">
      <vt:lpstr>Malgun Gothic</vt:lpstr>
      <vt:lpstr>IBM Plex Sans KR</vt:lpstr>
      <vt:lpstr>Arial</vt:lpstr>
      <vt:lpstr>Noto Sans KR</vt:lpstr>
      <vt:lpstr>Simple Light</vt:lpstr>
      <vt:lpstr>AXI4-Lite Multi-Peripheral SoC</vt:lpstr>
      <vt:lpstr>PowerPoint 프레젠테이션</vt:lpstr>
      <vt:lpstr>Overview</vt:lpstr>
      <vt:lpstr>MicroBlaze-Based Control System</vt:lpstr>
      <vt:lpstr>AXI4-Lite Interface</vt:lpstr>
      <vt:lpstr>Memory-Mapped Address Map</vt:lpstr>
      <vt:lpstr>Software Access Flow</vt:lpstr>
      <vt:lpstr>C Application Architecture Layer</vt:lpstr>
      <vt:lpstr>AXI4-Lite Peripheral Integration</vt:lpstr>
      <vt:lpstr>I2C LCD Peripheral Structure</vt:lpstr>
      <vt:lpstr>SPI AXI-Lite Peripheral Overview</vt:lpstr>
      <vt:lpstr>SPI Register Map </vt:lpstr>
      <vt:lpstr>SPI Access Sequence</vt:lpstr>
      <vt:lpstr>SPI UVM Architecture</vt:lpstr>
      <vt:lpstr>SPI UVM Verification</vt:lpstr>
      <vt:lpstr>SPI UVM Verification</vt:lpstr>
      <vt:lpstr>Board Validation Overview</vt:lpstr>
      <vt:lpstr>Board Validation</vt:lpstr>
      <vt:lpstr>Board Validation</vt:lpstr>
      <vt:lpstr>Board Validation</vt:lpstr>
      <vt:lpstr>Implementation</vt:lpstr>
      <vt:lpstr>Implementation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AXI4-Lite Multi-Peripheral SoC</dc:title>
  <cp:lastModifiedBy>kccistc</cp:lastModifiedBy>
  <cp:revision>2</cp:revision>
  <dcterms:modified xsi:type="dcterms:W3CDTF">2026-06-29T02:38:54Z</dcterms:modified>
</cp:coreProperties>
</file>